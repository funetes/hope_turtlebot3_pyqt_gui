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Inter SemiBold"/>
      <p:regular r:id="rId31"/>
      <p:bold r:id="rId32"/>
      <p:italic r:id="rId33"/>
      <p:boldItalic r:id="rId34"/>
    </p:embeddedFont>
    <p:embeddedFont>
      <p:font typeface="Inter"/>
      <p:bold r:id="rId35"/>
      <p:boldItalic r:id="rId36"/>
    </p:embeddedFont>
    <p:embeddedFont>
      <p:font typeface="Inter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SemiBold-italic.fntdata"/><Relationship Id="rId10" Type="http://schemas.openxmlformats.org/officeDocument/2006/relationships/slide" Target="slides/slide5.xml"/><Relationship Id="rId32" Type="http://schemas.openxmlformats.org/officeDocument/2006/relationships/font" Target="fonts/InterSemiBold-bold.fntdata"/><Relationship Id="rId13" Type="http://schemas.openxmlformats.org/officeDocument/2006/relationships/slide" Target="slides/slide8.xml"/><Relationship Id="rId35" Type="http://schemas.openxmlformats.org/officeDocument/2006/relationships/font" Target="fonts/Inter-bold.fntdata"/><Relationship Id="rId12" Type="http://schemas.openxmlformats.org/officeDocument/2006/relationships/slide" Target="slides/slide7.xml"/><Relationship Id="rId34" Type="http://schemas.openxmlformats.org/officeDocument/2006/relationships/font" Target="fonts/Inter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regular.fntdata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39" Type="http://schemas.openxmlformats.org/officeDocument/2006/relationships/font" Target="fonts/InterMedium-italic.fntdata"/><Relationship Id="rId16" Type="http://schemas.openxmlformats.org/officeDocument/2006/relationships/slide" Target="slides/slide11.xml"/><Relationship Id="rId38" Type="http://schemas.openxmlformats.org/officeDocument/2006/relationships/font" Target="fonts/Inter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dbcbf1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dbcbf1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7dbcbf1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7dbcbf1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dbcbf194_7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7dbcbf194_7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7dbcbf19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7dbcbf19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7dbcbf19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7dbcbf19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7dbcbf194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7dbcbf194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7dbcbf194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7dbcbf194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dbcbf194_1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7dbcbf194_1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7dbcbf194_1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7dbcbf194_1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dbcbf194_16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7dbcbf194_16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dbcbf194_16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7dbcbf194_1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dbcbf194_16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7dbcbf194_16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dbcbf194_16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dbcbf194_16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7dbcbf194_16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7dbcbf194_16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7dbcbf19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7dbcbf19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7dbcbf194_16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7dbcbf194_16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7dbcbf19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7dbcbf19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7dbcbf19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7dbcbf19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7dbcbf194_16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7dbcbf194_16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7dbcbf19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7dbcbf19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7dbcbf19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7dbcbf19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7dbcbf19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7dbcbf19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7dbcbf19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7dbcbf19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7dbcbf19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7dbcbf19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jXt1tsYkjAUbJWdo8AgN6AKdf0eiOGHJ/view" TargetMode="External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92050"/>
            <a:ext cx="8520600" cy="10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turtlebot3_pyqt_gui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158325" y="4565225"/>
            <a:ext cx="17901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hope - 김환, 박창민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76250" y="428625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프로젝트 개요</a:t>
            </a:r>
            <a:endParaRPr b="1" i="0" sz="2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476250" y="1238250"/>
            <a:ext cx="3905400" cy="3238500"/>
            <a:chOff x="476250" y="1238250"/>
            <a:chExt cx="3905400" cy="3238500"/>
          </a:xfrm>
        </p:grpSpPr>
        <p:sp>
          <p:nvSpPr>
            <p:cNvPr id="62" name="Google Shape;62;p14"/>
            <p:cNvSpPr/>
            <p:nvPr/>
          </p:nvSpPr>
          <p:spPr>
            <a:xfrm>
              <a:off x="476250" y="123825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762000" y="1524000"/>
              <a:ext cx="3333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settings_remote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시스템 개요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ko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본 프로젝트는 </a:t>
              </a:r>
              <a:r>
                <a:rPr b="0" lang="ko" sz="125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ROS 2 Humble</a:t>
              </a:r>
              <a:r>
                <a:rPr b="0" lang="ko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환경에서 동작하는 </a:t>
              </a:r>
              <a:r>
                <a:rPr b="0" lang="ko" sz="125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TurtleBot3 Burger</a:t>
              </a:r>
              <a:r>
                <a:rPr b="0" lang="ko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로봇을 </a:t>
              </a:r>
              <a:r>
                <a:rPr b="0" lang="ko" sz="125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PyQt 기반의 GUI 애플리케이션</a:t>
              </a:r>
              <a:r>
                <a:rPr b="0" lang="ko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으로 제어하고 모니터링할 수 있도록 개발한 시스템입니다.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4667250" y="1238250"/>
            <a:ext cx="4000500" cy="3238500"/>
            <a:chOff x="4667250" y="1238250"/>
            <a:chExt cx="4000500" cy="3238500"/>
          </a:xfrm>
        </p:grpSpPr>
        <p:sp>
          <p:nvSpPr>
            <p:cNvPr id="65" name="Google Shape;65;p14"/>
            <p:cNvSpPr/>
            <p:nvPr/>
          </p:nvSpPr>
          <p:spPr>
            <a:xfrm>
              <a:off x="4667250" y="123825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4953000" y="1524000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주요 기능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ko" sz="1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ko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상태 정보 확인</a:t>
              </a:r>
              <a:endParaRPr b="0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2095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로봇의 실시간 상태 정보 모니터링 및 시각화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ko" sz="1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ko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정밀 위치 및 경로 이동</a:t>
              </a:r>
              <a:endParaRPr b="0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2095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주행 경로 실행, waypoint 및 trajectory 기반 이동 제어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ko" sz="1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ko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통합 시스템 제어</a:t>
              </a:r>
              <a:endParaRPr b="0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2095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음성 출력(TTS) 기능 및 편리한 launch 파일 원격 제어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76250" y="428625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개발환경</a:t>
            </a:r>
            <a:endParaRPr b="1" sz="2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476250" y="1238250"/>
            <a:ext cx="2571900" cy="3238500"/>
            <a:chOff x="476250" y="1238250"/>
            <a:chExt cx="2571900" cy="3238500"/>
          </a:xfrm>
        </p:grpSpPr>
        <p:sp>
          <p:nvSpPr>
            <p:cNvPr id="73" name="Google Shape;73;p15"/>
            <p:cNvSpPr/>
            <p:nvPr/>
          </p:nvSpPr>
          <p:spPr>
            <a:xfrm>
              <a:off x="476250" y="123825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714375" y="1476375"/>
              <a:ext cx="2095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1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OS &amp; 언어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OS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Ubuntu 22.04 (Linux)</a:t>
              </a:r>
              <a:endParaRPr b="0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Python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3.10+</a:t>
              </a:r>
              <a:endParaRPr b="0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3286125" y="1238250"/>
            <a:ext cx="2571900" cy="3238500"/>
            <a:chOff x="3286125" y="1238250"/>
            <a:chExt cx="2571900" cy="3238500"/>
          </a:xfrm>
        </p:grpSpPr>
        <p:sp>
          <p:nvSpPr>
            <p:cNvPr id="76" name="Google Shape;76;p15"/>
            <p:cNvSpPr/>
            <p:nvPr/>
          </p:nvSpPr>
          <p:spPr>
            <a:xfrm>
              <a:off x="3286125" y="123825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3524250" y="1476375"/>
              <a:ext cx="2095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1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로봇 플랫폼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ROS 2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Humble</a:t>
              </a:r>
              <a:endParaRPr b="0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Robot Platform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TurtleBot3 Burger</a:t>
              </a:r>
              <a:endParaRPr b="0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6096000" y="1238250"/>
            <a:ext cx="2571900" cy="3238500"/>
            <a:chOff x="6096000" y="1238250"/>
            <a:chExt cx="2571900" cy="3238500"/>
          </a:xfrm>
        </p:grpSpPr>
        <p:sp>
          <p:nvSpPr>
            <p:cNvPr id="79" name="Google Shape;79;p15"/>
            <p:cNvSpPr/>
            <p:nvPr/>
          </p:nvSpPr>
          <p:spPr>
            <a:xfrm>
              <a:off x="6096000" y="123825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6334125" y="1476375"/>
              <a:ext cx="2095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settings_ethernet</a:t>
              </a:r>
              <a:endParaRPr sz="1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인터페이스 &amp; 통신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GUI Framework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PyQt5</a:t>
              </a:r>
              <a:endParaRPr b="0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통신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ROS 2 topic / action /</a:t>
              </a:r>
              <a:br>
                <a:rPr b="0" lang="ko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</a:br>
              <a:r>
                <a:rPr b="0" lang="ko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SSH (remote launch)</a:t>
              </a:r>
              <a:endParaRPr b="0" sz="12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Flow chart</a:t>
            </a:r>
            <a:endParaRPr/>
          </a:p>
        </p:txBody>
      </p:sp>
      <p:pic>
        <p:nvPicPr>
          <p:cNvPr id="86" name="Google Shape;86;p16" title="mermaid-diagram-2026-07-09-1824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899" y="813788"/>
            <a:ext cx="1840200" cy="409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화면구성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2" name="Google Shape;92;p17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1621863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8" name="Google Shape;98;p18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813775" y="1282325"/>
            <a:ext cx="1859400" cy="641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8"/>
          <p:cNvCxnSpPr/>
          <p:nvPr/>
        </p:nvCxnSpPr>
        <p:spPr>
          <a:xfrm>
            <a:off x="2678100" y="1607850"/>
            <a:ext cx="4473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8"/>
          <p:cNvSpPr txBox="1"/>
          <p:nvPr/>
        </p:nvSpPr>
        <p:spPr>
          <a:xfrm>
            <a:off x="7182050" y="1421200"/>
            <a:ext cx="1815000" cy="147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Connect: ROS 환경 연결 상태를 반영합니다.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Disconnect: 연결 상태를 해제합니다.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Exit: GUI를 종료합니다.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" name="Google Shape;107;p19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/>
          <p:nvPr/>
        </p:nvSpPr>
        <p:spPr>
          <a:xfrm>
            <a:off x="2720009" y="1282325"/>
            <a:ext cx="1859400" cy="641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" name="Google Shape;109;p19"/>
          <p:cNvCxnSpPr/>
          <p:nvPr/>
        </p:nvCxnSpPr>
        <p:spPr>
          <a:xfrm>
            <a:off x="4579400" y="1607850"/>
            <a:ext cx="2305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9"/>
          <p:cNvSpPr txBox="1"/>
          <p:nvPr/>
        </p:nvSpPr>
        <p:spPr>
          <a:xfrm>
            <a:off x="6929500" y="1377000"/>
            <a:ext cx="21258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배터리 잔량과 전압을 확인합니다.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6" name="Google Shape;116;p20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4629209" y="1282325"/>
            <a:ext cx="1859400" cy="641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6833750" y="2094025"/>
            <a:ext cx="2125800" cy="240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Run Bringup: 로봇에서 bringup 실행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Run Nav2: Nav2 실행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Run SLAM: SLAM 실행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Run Rviz2: RViz 실행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Save Map: 현재 맵 저장 (현재 맵은 hope_연일월시_map.yaml 형식으로 /home/maps에 저장됩니다.)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Stop Launches: 실행 중인 launch 종료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19" name="Google Shape;119;p20"/>
          <p:cNvCxnSpPr>
            <a:endCxn id="118" idx="0"/>
          </p:cNvCxnSpPr>
          <p:nvPr/>
        </p:nvCxnSpPr>
        <p:spPr>
          <a:xfrm>
            <a:off x="6488150" y="1614625"/>
            <a:ext cx="1408500" cy="4794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21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812700" y="1961250"/>
            <a:ext cx="1859400" cy="692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4874075" y="1867675"/>
            <a:ext cx="2125800" cy="178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- 경유점 이동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  - YAML로 정의한 waypoint를 불러와 원하는 지점으로 이동 가능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- nav2가 실행된 상태에서 경유점을 선택하고 Go To Waypoint를 눌러 이동합니다.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28" name="Google Shape;128;p21"/>
          <p:cNvCxnSpPr>
            <a:stCxn id="126" idx="3"/>
            <a:endCxn id="127" idx="0"/>
          </p:cNvCxnSpPr>
          <p:nvPr/>
        </p:nvCxnSpPr>
        <p:spPr>
          <a:xfrm flipH="1" rot="10800000">
            <a:off x="2672100" y="1867800"/>
            <a:ext cx="3264900" cy="439800"/>
          </a:xfrm>
          <a:prstGeom prst="bentConnector4">
            <a:avLst>
              <a:gd fmla="val 33722" name="adj1"/>
              <a:gd fmla="val 154172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" name="Google Shape;129;p21"/>
          <p:cNvSpPr txBox="1"/>
          <p:nvPr/>
        </p:nvSpPr>
        <p:spPr>
          <a:xfrm>
            <a:off x="7282200" y="1867675"/>
            <a:ext cx="1550100" cy="231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yaml 파일 형식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```yaml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waypoints: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- name: point1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frame_id: map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pose: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position: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x: 1.0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y: 2.0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z: 0.0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angle: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yaw: 0.0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- name: point2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frame_id: map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pose: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position: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x: 2.0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y: 3.0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z: 0.0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angle: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        yaw: 1.57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```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5" name="Google Shape;135;p22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/>
          <p:nvPr/>
        </p:nvSpPr>
        <p:spPr>
          <a:xfrm>
            <a:off x="2705475" y="1961250"/>
            <a:ext cx="1893600" cy="122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6772025" y="1409925"/>
            <a:ext cx="2060400" cy="86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- topic monitor (/odom , /scan)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</a:t>
            </a:r>
            <a:r>
              <a:rPr lang="ko" sz="1100">
                <a:solidFill>
                  <a:schemeClr val="dk2"/>
                </a:solidFill>
              </a:rPr>
              <a:t>현재위치(x,y)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현재방향(yaw)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lidar 최소거리 확인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38" name="Google Shape;138;p22"/>
          <p:cNvCxnSpPr>
            <a:stCxn id="136" idx="3"/>
            <a:endCxn id="137" idx="0"/>
          </p:cNvCxnSpPr>
          <p:nvPr/>
        </p:nvCxnSpPr>
        <p:spPr>
          <a:xfrm flipH="1" rot="10800000">
            <a:off x="4599075" y="1410000"/>
            <a:ext cx="3203100" cy="1162500"/>
          </a:xfrm>
          <a:prstGeom prst="bentConnector4">
            <a:avLst>
              <a:gd fmla="val 33919" name="adj1"/>
              <a:gd fmla="val 12049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p23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4611263" y="1961250"/>
            <a:ext cx="1893600" cy="122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6772025" y="1409925"/>
            <a:ext cx="2060400" cy="187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- velocity control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</a:t>
            </a:r>
            <a:r>
              <a:rPr lang="ko" sz="1100">
                <a:solidFill>
                  <a:schemeClr val="dk2"/>
                </a:solidFill>
              </a:rPr>
              <a:t>선속도 제어 (m/s)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</a:t>
            </a:r>
            <a:r>
              <a:rPr lang="ko" sz="1100">
                <a:solidFill>
                  <a:schemeClr val="dk2"/>
                </a:solidFill>
              </a:rPr>
              <a:t>각속도 제어 (rad/s)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- teleop control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left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stop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right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forward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  - backward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47" name="Google Shape;147;p23"/>
          <p:cNvCxnSpPr>
            <a:stCxn id="145" idx="3"/>
            <a:endCxn id="146" idx="0"/>
          </p:cNvCxnSpPr>
          <p:nvPr/>
        </p:nvCxnSpPr>
        <p:spPr>
          <a:xfrm flipH="1" rot="10800000">
            <a:off x="6504863" y="1410000"/>
            <a:ext cx="1297500" cy="1162500"/>
          </a:xfrm>
          <a:prstGeom prst="bentConnector4">
            <a:avLst>
              <a:gd fmla="val 10295" name="adj1"/>
              <a:gd fmla="val 12049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" name="Google Shape;153;p24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815375" y="3190550"/>
            <a:ext cx="1893600" cy="543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24"/>
          <p:cNvCxnSpPr>
            <a:stCxn id="154" idx="3"/>
            <a:endCxn id="156" idx="0"/>
          </p:cNvCxnSpPr>
          <p:nvPr/>
        </p:nvCxnSpPr>
        <p:spPr>
          <a:xfrm flipH="1" rot="10800000">
            <a:off x="2708975" y="1586150"/>
            <a:ext cx="5127300" cy="1876200"/>
          </a:xfrm>
          <a:prstGeom prst="bentConnector4">
            <a:avLst>
              <a:gd fmla="val 39635" name="adj1"/>
              <a:gd fmla="val 112685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" name="Google Shape;156;p24"/>
          <p:cNvSpPr txBox="1"/>
          <p:nvPr/>
        </p:nvSpPr>
        <p:spPr>
          <a:xfrm>
            <a:off x="6773350" y="1586288"/>
            <a:ext cx="2125800" cy="198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- Trajectory selection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  - YAML로 정의한 trajectory를 불러와 원하는 지점으로 이동 가능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- nav2가 실행된 상태에서 경유점을 선택하고 Run</a:t>
            </a:r>
            <a:r>
              <a:rPr lang="ko" sz="1300">
                <a:solidFill>
                  <a:schemeClr val="dk2"/>
                </a:solidFill>
              </a:rPr>
              <a:t>버튼을 눌러 실행합니다.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25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2722663" y="3190550"/>
            <a:ext cx="3789000" cy="543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5"/>
          <p:cNvCxnSpPr>
            <a:stCxn id="163" idx="3"/>
            <a:endCxn id="165" idx="0"/>
          </p:cNvCxnSpPr>
          <p:nvPr/>
        </p:nvCxnSpPr>
        <p:spPr>
          <a:xfrm flipH="1" rot="10800000">
            <a:off x="6511663" y="1568150"/>
            <a:ext cx="1358100" cy="1894200"/>
          </a:xfrm>
          <a:prstGeom prst="bentConnector4">
            <a:avLst>
              <a:gd fmla="val 3972" name="adj1"/>
              <a:gd fmla="val 112579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" name="Google Shape;165;p25"/>
          <p:cNvSpPr txBox="1"/>
          <p:nvPr/>
        </p:nvSpPr>
        <p:spPr>
          <a:xfrm>
            <a:off x="6619563" y="1568013"/>
            <a:ext cx="2500500" cy="166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</a:t>
            </a:r>
            <a:r>
              <a:rPr lang="ko" sz="1200">
                <a:solidFill>
                  <a:schemeClr val="dk2"/>
                </a:solidFill>
              </a:rPr>
              <a:t>gTTS 영역의 입력창에 원하는 문장을 입력합니다.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</a:t>
            </a:r>
            <a:r>
              <a:rPr lang="ko" sz="1200">
                <a:solidFill>
                  <a:schemeClr val="dk2"/>
                </a:solidFill>
              </a:rPr>
              <a:t>Speak 버튼을 누릅니다.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</a:t>
            </a:r>
            <a:r>
              <a:rPr lang="ko" sz="1200">
                <a:solidFill>
                  <a:schemeClr val="dk2"/>
                </a:solidFill>
              </a:rPr>
              <a:t>GUI가 음성 요청을 전달하면, 로봇 측 오디오 노드가 해당 문장을 재생합니다.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1" name="Google Shape;171;p26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814431" y="3782050"/>
            <a:ext cx="5676600" cy="543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6"/>
          <p:cNvCxnSpPr>
            <a:stCxn id="172" idx="3"/>
            <a:endCxn id="174" idx="0"/>
          </p:cNvCxnSpPr>
          <p:nvPr/>
        </p:nvCxnSpPr>
        <p:spPr>
          <a:xfrm flipH="1" rot="10800000">
            <a:off x="6491031" y="1568050"/>
            <a:ext cx="1378800" cy="2485800"/>
          </a:xfrm>
          <a:prstGeom prst="bentConnector4">
            <a:avLst>
              <a:gd fmla="val 4661" name="adj1"/>
              <a:gd fmla="val 109581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4" name="Google Shape;174;p26"/>
          <p:cNvSpPr txBox="1"/>
          <p:nvPr/>
        </p:nvSpPr>
        <p:spPr>
          <a:xfrm>
            <a:off x="6619563" y="1568013"/>
            <a:ext cx="2500500" cy="184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Log 영역에서 GUI 동작과 상태 변화를 확인할 수 있습니다.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[TTS] : 음성 출력 관련 메시지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[CMD_VEL] : 속도 명령 메시지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[PROCESS] : 런치/프로세스 상태 메시지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[WAYPOINT] : waypoint 관련 동작 로그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2620">
                <a:latin typeface="Inter"/>
                <a:ea typeface="Inter"/>
                <a:cs typeface="Inter"/>
                <a:sym typeface="Inter"/>
              </a:rPr>
              <a:t>기능별 설명</a:t>
            </a:r>
            <a:endParaRPr b="1" sz="262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p27" title="스크린샷 2026-07-09 152454.png"/>
          <p:cNvPicPr preferRelativeResize="0"/>
          <p:nvPr/>
        </p:nvPicPr>
        <p:blipFill rotWithShape="1">
          <a:blip r:embed="rId3">
            <a:alphaModFix/>
          </a:blip>
          <a:srcRect b="0" l="1672" r="0" t="1826"/>
          <a:stretch/>
        </p:blipFill>
        <p:spPr>
          <a:xfrm>
            <a:off x="719288" y="1017725"/>
            <a:ext cx="5900277" cy="384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/>
        </p:nvSpPr>
        <p:spPr>
          <a:xfrm>
            <a:off x="6619563" y="1568013"/>
            <a:ext cx="2500500" cy="73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 추가기능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 - 버튼을 누르면 현재 서울의 날씨를 음성 출력합니다.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116" y="4349975"/>
            <a:ext cx="5900275" cy="49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7"/>
          <p:cNvCxnSpPr>
            <a:stCxn id="184" idx="3"/>
            <a:endCxn id="181" idx="0"/>
          </p:cNvCxnSpPr>
          <p:nvPr/>
        </p:nvCxnSpPr>
        <p:spPr>
          <a:xfrm flipH="1" rot="10800000">
            <a:off x="6491025" y="1568075"/>
            <a:ext cx="1378800" cy="3058500"/>
          </a:xfrm>
          <a:prstGeom prst="bentConnector4">
            <a:avLst>
              <a:gd fmla="val 4661" name="adj1"/>
              <a:gd fmla="val 107788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4" name="Google Shape;184;p27"/>
          <p:cNvSpPr/>
          <p:nvPr/>
        </p:nvSpPr>
        <p:spPr>
          <a:xfrm>
            <a:off x="814425" y="4413125"/>
            <a:ext cx="5676600" cy="426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topic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/audio/command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/cmd/vel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/scan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/odom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/battery_state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381000" y="38100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message type</a:t>
            </a:r>
            <a:endParaRPr b="1" sz="2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6" name="Google Shape;196;p29"/>
          <p:cNvGrpSpPr/>
          <p:nvPr/>
        </p:nvGrpSpPr>
        <p:grpSpPr>
          <a:xfrm>
            <a:off x="381000" y="1238250"/>
            <a:ext cx="4000500" cy="1619100"/>
            <a:chOff x="381000" y="1238250"/>
            <a:chExt cx="4000500" cy="1619100"/>
          </a:xfrm>
        </p:grpSpPr>
        <p:sp>
          <p:nvSpPr>
            <p:cNvPr id="197" name="Google Shape;197;p29"/>
            <p:cNvSpPr/>
            <p:nvPr/>
          </p:nvSpPr>
          <p:spPr>
            <a:xfrm>
              <a:off x="381000" y="1238250"/>
              <a:ext cx="4000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9"/>
            <p:cNvSpPr txBox="1"/>
            <p:nvPr/>
          </p:nvSpPr>
          <p:spPr>
            <a:xfrm>
              <a:off x="571500" y="142875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Package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nav_msgs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Message Type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ko" sz="14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Odometry</a:t>
              </a:r>
              <a:endParaRPr b="0" sz="14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99" name="Google Shape;199;p29"/>
          <p:cNvGrpSpPr/>
          <p:nvPr/>
        </p:nvGrpSpPr>
        <p:grpSpPr>
          <a:xfrm>
            <a:off x="4762500" y="1238250"/>
            <a:ext cx="4000500" cy="1619100"/>
            <a:chOff x="4762500" y="1238250"/>
            <a:chExt cx="4000500" cy="1619100"/>
          </a:xfrm>
        </p:grpSpPr>
        <p:sp>
          <p:nvSpPr>
            <p:cNvPr id="200" name="Google Shape;200;p29"/>
            <p:cNvSpPr/>
            <p:nvPr/>
          </p:nvSpPr>
          <p:spPr>
            <a:xfrm>
              <a:off x="4762500" y="1238250"/>
              <a:ext cx="4000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9"/>
            <p:cNvSpPr txBox="1"/>
            <p:nvPr/>
          </p:nvSpPr>
          <p:spPr>
            <a:xfrm>
              <a:off x="4953000" y="142875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Package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sensor_msgs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Message Type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ko" sz="14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BatteryState, LaserScan</a:t>
              </a:r>
              <a:endParaRPr b="0" sz="14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02" name="Google Shape;202;p29"/>
          <p:cNvGrpSpPr/>
          <p:nvPr/>
        </p:nvGrpSpPr>
        <p:grpSpPr>
          <a:xfrm>
            <a:off x="381000" y="3048000"/>
            <a:ext cx="4000500" cy="1619100"/>
            <a:chOff x="381000" y="3048000"/>
            <a:chExt cx="4000500" cy="1619100"/>
          </a:xfrm>
        </p:grpSpPr>
        <p:sp>
          <p:nvSpPr>
            <p:cNvPr id="203" name="Google Shape;203;p29"/>
            <p:cNvSpPr/>
            <p:nvPr/>
          </p:nvSpPr>
          <p:spPr>
            <a:xfrm>
              <a:off x="381000" y="3048000"/>
              <a:ext cx="4000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9"/>
            <p:cNvSpPr txBox="1"/>
            <p:nvPr/>
          </p:nvSpPr>
          <p:spPr>
            <a:xfrm>
              <a:off x="571500" y="32385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Package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robot_audio_interfaces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Message Type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ko" sz="14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AudioCommand</a:t>
              </a:r>
              <a:endParaRPr b="0" sz="14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05" name="Google Shape;205;p29"/>
          <p:cNvGrpSpPr/>
          <p:nvPr/>
        </p:nvGrpSpPr>
        <p:grpSpPr>
          <a:xfrm>
            <a:off x="4762500" y="3048000"/>
            <a:ext cx="4000500" cy="1619100"/>
            <a:chOff x="4762500" y="3048000"/>
            <a:chExt cx="4000500" cy="1619100"/>
          </a:xfrm>
        </p:grpSpPr>
        <p:sp>
          <p:nvSpPr>
            <p:cNvPr id="206" name="Google Shape;206;p29"/>
            <p:cNvSpPr/>
            <p:nvPr/>
          </p:nvSpPr>
          <p:spPr>
            <a:xfrm>
              <a:off x="4762500" y="3048000"/>
              <a:ext cx="4000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9"/>
            <p:cNvSpPr txBox="1"/>
            <p:nvPr/>
          </p:nvSpPr>
          <p:spPr>
            <a:xfrm>
              <a:off x="4953000" y="32385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Package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geometry_msgs</a:t>
              </a:r>
              <a:endParaRPr b="1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Message Type</a:t>
              </a:r>
              <a:endParaRPr/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ko" sz="14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Twist</a:t>
              </a:r>
              <a:endParaRPr b="0" sz="14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81000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waypoint, trajectory 구성방식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381000" y="1238250"/>
            <a:ext cx="4000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Waypoint 구성 방식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Waypoint는 로봇이 이동해야 하는 개별 지점을 의미하며, 각 지점은 위치와 방향 정보를 포함합니다. YAML 형식으로 정의하며 다음 요소들로 구성됩니다.</a:t>
            </a:r>
            <a:endParaRPr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050">
                <a:solidFill>
                  <a:srgbClr val="0F172A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ko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waypoint의 고유 이름</a:t>
            </a:r>
            <a:endParaRPr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ko" sz="1050">
                <a:solidFill>
                  <a:srgbClr val="0F172A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frame_id</a:t>
            </a:r>
            <a:r>
              <a:rPr lang="ko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기준 좌표계 정보 (예: map)</a:t>
            </a:r>
            <a:endParaRPr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ko" sz="1050">
                <a:solidFill>
                  <a:srgbClr val="0F172A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pose.position</a:t>
            </a:r>
            <a:r>
              <a:rPr lang="ko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x, y, z 위치 좌표</a:t>
            </a:r>
            <a:endParaRPr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b="1" lang="ko" sz="1050">
                <a:solidFill>
                  <a:srgbClr val="0F172A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pose.angle.yaw</a:t>
            </a:r>
            <a:r>
              <a:rPr lang="ko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로봇의 회전 방향 (Yaw)</a:t>
            </a:r>
            <a:endParaRPr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4762500" y="1238250"/>
            <a:ext cx="4000500" cy="3333900"/>
          </a:xfrm>
          <a:prstGeom prst="roundRect">
            <a:avLst>
              <a:gd fmla="val 342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/>
          <p:nvPr/>
        </p:nvSpPr>
        <p:spPr>
          <a:xfrm>
            <a:off x="4943475" y="1419225"/>
            <a:ext cx="114300" cy="1143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5114925" y="1419225"/>
            <a:ext cx="114300" cy="1143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/>
          <p:nvPr/>
        </p:nvSpPr>
        <p:spPr>
          <a:xfrm>
            <a:off x="5286375" y="1419225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 txBox="1"/>
          <p:nvPr/>
        </p:nvSpPr>
        <p:spPr>
          <a:xfrm>
            <a:off x="4953000" y="1762125"/>
            <a:ext cx="3429000" cy="184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waypoints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143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" sz="12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point1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286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frame_id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" sz="12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286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pose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"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1.0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"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"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0.0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angle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yaw</a:t>
            </a:r>
            <a:r>
              <a:rPr lang="ko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"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0.0</a:t>
            </a:r>
            <a:endParaRPr sz="12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title"/>
          </p:nvPr>
        </p:nvSpPr>
        <p:spPr>
          <a:xfrm>
            <a:off x="381000" y="3810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waypoint, trajectory 구성방식</a:t>
            </a:r>
            <a:endParaRPr b="1" i="0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 txBox="1"/>
          <p:nvPr>
            <p:ph idx="1" type="body"/>
          </p:nvPr>
        </p:nvSpPr>
        <p:spPr>
          <a:xfrm>
            <a:off x="381000" y="1238250"/>
            <a:ext cx="4000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Trajectory 구성 방식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ko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Trajectory는 여러 개의 waypoint를 연결하여 하나의 이동 경로로 묶은 구조입니다. 각 경로는 로봇의 순차적인 이동 흐름을 정의합니다.</a:t>
            </a:r>
            <a:endParaRPr b="0" i="0"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900"/>
              </a:spcAft>
              <a:buNone/>
            </a:pPr>
            <a:r>
              <a:rPr b="0" i="0" lang="ko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YAML 파일에서는 </a:t>
            </a:r>
            <a:r>
              <a:rPr b="1" i="0" lang="ko" sz="1150">
                <a:solidFill>
                  <a:srgbClr val="0F172A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trajectories</a:t>
            </a:r>
            <a:r>
              <a:rPr b="0" i="0" lang="ko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항목 아래에 경로 이름과 포함될 waypoint 목록을 정의합니다.</a:t>
            </a:r>
            <a:endParaRPr b="0" i="0"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1"/>
          <p:cNvSpPr/>
          <p:nvPr/>
        </p:nvSpPr>
        <p:spPr>
          <a:xfrm>
            <a:off x="4762500" y="1238250"/>
            <a:ext cx="4000500" cy="3333900"/>
          </a:xfrm>
          <a:prstGeom prst="roundRect">
            <a:avLst>
              <a:gd fmla="val 342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1"/>
          <p:cNvSpPr/>
          <p:nvPr/>
        </p:nvSpPr>
        <p:spPr>
          <a:xfrm>
            <a:off x="4943475" y="1419225"/>
            <a:ext cx="114300" cy="1143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1"/>
          <p:cNvSpPr/>
          <p:nvPr/>
        </p:nvSpPr>
        <p:spPr>
          <a:xfrm>
            <a:off x="5114925" y="1419225"/>
            <a:ext cx="114300" cy="1143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1"/>
          <p:cNvSpPr/>
          <p:nvPr/>
        </p:nvSpPr>
        <p:spPr>
          <a:xfrm>
            <a:off x="5286375" y="1419225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4953000" y="1762125"/>
            <a:ext cx="3429000" cy="175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waypoints</a:t>
            </a: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143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trajectories</a:t>
            </a: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143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ko" sz="13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ko" sz="13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route_a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2286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waypoints</a:t>
            </a: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ko" sz="13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point1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0" i="0" lang="ko" sz="13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point2</a:t>
            </a:r>
            <a:endParaRPr b="0" i="0" sz="13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gTTS 출력방식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381000" y="1238250"/>
            <a:ext cx="3810000" cy="333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음성 출력 시스템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ko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사용자가 입력한 문자열을 음성으로 출력하기 위해 </a:t>
            </a:r>
            <a:r>
              <a:rPr b="1" lang="ko" sz="12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gTTS(Google Text-to-Speech)</a:t>
            </a:r>
            <a:r>
              <a:rPr b="0" lang="ko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기능을 구현했습니다.</a:t>
            </a:r>
            <a:endParaRPr b="0"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0" lang="ko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GUI 상에서 텍스트를 입력한 후 실행 버튼을 누르면, 해당 문자열이 로봇 측으로 전달되어 음성 출력이 수행됩니다.</a:t>
            </a:r>
            <a:endParaRPr b="0"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32"/>
          <p:cNvGrpSpPr/>
          <p:nvPr/>
        </p:nvGrpSpPr>
        <p:grpSpPr>
          <a:xfrm>
            <a:off x="4572000" y="1238250"/>
            <a:ext cx="4191000" cy="3286200"/>
            <a:chOff x="4572000" y="1238250"/>
            <a:chExt cx="4191000" cy="3286200"/>
          </a:xfrm>
        </p:grpSpPr>
        <p:grpSp>
          <p:nvGrpSpPr>
            <p:cNvPr id="237" name="Google Shape;237;p32"/>
            <p:cNvGrpSpPr/>
            <p:nvPr/>
          </p:nvGrpSpPr>
          <p:grpSpPr>
            <a:xfrm>
              <a:off x="4572000" y="1238250"/>
              <a:ext cx="4191000" cy="1000200"/>
              <a:chOff x="4572000" y="1238250"/>
              <a:chExt cx="4191000" cy="1000200"/>
            </a:xfrm>
          </p:grpSpPr>
          <p:sp>
            <p:nvSpPr>
              <p:cNvPr id="238" name="Google Shape;238;p32"/>
              <p:cNvSpPr/>
              <p:nvPr/>
            </p:nvSpPr>
            <p:spPr>
              <a:xfrm>
                <a:off x="4572000" y="1238250"/>
                <a:ext cx="41910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39" name="Google Shape;239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72000" y="1238250"/>
                <a:ext cx="76200" cy="10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0" name="Google Shape;240;p32"/>
              <p:cNvSpPr txBox="1"/>
              <p:nvPr/>
            </p:nvSpPr>
            <p:spPr>
              <a:xfrm>
                <a:off x="4800600" y="1238250"/>
                <a:ext cx="37719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01. GUI 입력</a:t>
                </a:r>
                <a:endParaRPr b="1" sz="11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사용자가 GUI의 입력창에 문장을 입력합니다.</a:t>
                </a:r>
                <a:endParaRPr b="1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32"/>
            <p:cNvGrpSpPr/>
            <p:nvPr/>
          </p:nvGrpSpPr>
          <p:grpSpPr>
            <a:xfrm>
              <a:off x="4572000" y="2381250"/>
              <a:ext cx="4191000" cy="1000200"/>
              <a:chOff x="4572000" y="2381250"/>
              <a:chExt cx="4191000" cy="1000200"/>
            </a:xfrm>
          </p:grpSpPr>
          <p:sp>
            <p:nvSpPr>
              <p:cNvPr id="242" name="Google Shape;242;p32"/>
              <p:cNvSpPr/>
              <p:nvPr/>
            </p:nvSpPr>
            <p:spPr>
              <a:xfrm>
                <a:off x="4572000" y="2381250"/>
                <a:ext cx="41910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43" name="Google Shape;243;p3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572000" y="2381250"/>
                <a:ext cx="76200" cy="10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" name="Google Shape;244;p32"/>
              <p:cNvSpPr txBox="1"/>
              <p:nvPr/>
            </p:nvSpPr>
            <p:spPr>
              <a:xfrm>
                <a:off x="4800600" y="2381250"/>
                <a:ext cx="37719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F59E0B"/>
                    </a:solidFill>
                    <a:latin typeface="Arial"/>
                    <a:ea typeface="Arial"/>
                    <a:cs typeface="Arial"/>
                    <a:sym typeface="Arial"/>
                  </a:rPr>
                  <a:t>02. TTS 요청 전달</a:t>
                </a:r>
                <a:endParaRPr b="1" sz="11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EF4444"/>
                    </a:solidFill>
                    <a:latin typeface="Arial"/>
                    <a:ea typeface="Arial"/>
                    <a:cs typeface="Arial"/>
                    <a:sym typeface="Arial"/>
                  </a:rPr>
                  <a:t>Speak 버튼</a:t>
                </a:r>
                <a:r>
                  <a:rPr b="1" lang="ko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을 누르면 입력된 텍스트가 TTS 요청으로 전달됩니다.</a:t>
                </a:r>
                <a:endParaRPr b="1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32"/>
            <p:cNvGrpSpPr/>
            <p:nvPr/>
          </p:nvGrpSpPr>
          <p:grpSpPr>
            <a:xfrm>
              <a:off x="4572000" y="3524250"/>
              <a:ext cx="4191000" cy="1000200"/>
              <a:chOff x="4572000" y="3524250"/>
              <a:chExt cx="4191000" cy="1000200"/>
            </a:xfrm>
          </p:grpSpPr>
          <p:sp>
            <p:nvSpPr>
              <p:cNvPr id="246" name="Google Shape;246;p32"/>
              <p:cNvSpPr/>
              <p:nvPr/>
            </p:nvSpPr>
            <p:spPr>
              <a:xfrm>
                <a:off x="4572000" y="3524250"/>
                <a:ext cx="41910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47" name="Google Shape;247;p3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572000" y="3524250"/>
                <a:ext cx="76200" cy="10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8" name="Google Shape;248;p32"/>
              <p:cNvSpPr txBox="1"/>
              <p:nvPr/>
            </p:nvSpPr>
            <p:spPr>
              <a:xfrm>
                <a:off x="4800600" y="3524250"/>
                <a:ext cx="37719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10B981"/>
                    </a:solidFill>
                    <a:latin typeface="Arial"/>
                    <a:ea typeface="Arial"/>
                    <a:cs typeface="Arial"/>
                    <a:sym typeface="Arial"/>
                  </a:rPr>
                  <a:t>03. 음성 출력 실행</a:t>
                </a:r>
                <a:endParaRPr b="1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터틀봇 오디오 노드가 해당 문장을 음성으로 재생합니다.</a:t>
                </a:r>
                <a:endParaRPr b="1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476250" y="428625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bringup / nav2 실행방식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4" name="Google Shape;254;p33"/>
          <p:cNvGrpSpPr/>
          <p:nvPr/>
        </p:nvGrpSpPr>
        <p:grpSpPr>
          <a:xfrm>
            <a:off x="476250" y="1238250"/>
            <a:ext cx="8191500" cy="1571700"/>
            <a:chOff x="476250" y="1238250"/>
            <a:chExt cx="8191500" cy="1571700"/>
          </a:xfrm>
        </p:grpSpPr>
        <p:sp>
          <p:nvSpPr>
            <p:cNvPr id="255" name="Google Shape;255;p33"/>
            <p:cNvSpPr/>
            <p:nvPr/>
          </p:nvSpPr>
          <p:spPr>
            <a:xfrm>
              <a:off x="476250" y="1238250"/>
              <a:ext cx="81915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" name="Google Shape;256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250" y="1238250"/>
              <a:ext cx="114300" cy="157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33"/>
            <p:cNvSpPr txBox="1"/>
            <p:nvPr/>
          </p:nvSpPr>
          <p:spPr>
            <a:xfrm>
              <a:off x="762000" y="1238250"/>
              <a:ext cx="76200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01. Bringup Service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bringup 버튼 실행 프로세스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1E40AF"/>
                  </a:solidFill>
                  <a:highlight>
                    <a:srgbClr val="EFF6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bringup button</a:t>
              </a:r>
              <a:r>
                <a:rPr lang="ko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ko" sz="1200">
                  <a:solidFill>
                    <a:srgbClr val="334155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qprocessor : </a:t>
              </a:r>
              <a:r>
                <a:rPr b="1" lang="ko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ssh tb3_script/start_bringup.sh</a:t>
              </a:r>
              <a:r>
                <a:rPr lang="ko" sz="1200">
                  <a:solidFill>
                    <a:srgbClr val="334155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 실행</a:t>
              </a:r>
              <a:r>
                <a:rPr lang="ko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ko" sz="1200">
                  <a:solidFill>
                    <a:srgbClr val="047857"/>
                  </a:solidFill>
                  <a:highlight>
                    <a:srgbClr val="ECFDF5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bringup 완료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8" name="Google Shape;258;p33"/>
          <p:cNvGrpSpPr/>
          <p:nvPr/>
        </p:nvGrpSpPr>
        <p:grpSpPr>
          <a:xfrm>
            <a:off x="476250" y="3048000"/>
            <a:ext cx="8191500" cy="1571700"/>
            <a:chOff x="476250" y="3048000"/>
            <a:chExt cx="8191500" cy="1571700"/>
          </a:xfrm>
        </p:grpSpPr>
        <p:sp>
          <p:nvSpPr>
            <p:cNvPr id="259" name="Google Shape;259;p33"/>
            <p:cNvSpPr/>
            <p:nvPr/>
          </p:nvSpPr>
          <p:spPr>
            <a:xfrm>
              <a:off x="476250" y="3048000"/>
              <a:ext cx="81915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0" name="Google Shape;260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3048000"/>
              <a:ext cx="114300" cy="157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33"/>
            <p:cNvSpPr txBox="1"/>
            <p:nvPr/>
          </p:nvSpPr>
          <p:spPr>
            <a:xfrm>
              <a:off x="762000" y="3048000"/>
              <a:ext cx="76200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02. Navigation Service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nav2 버튼 실행 프로세스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65F46"/>
                  </a:solidFill>
                  <a:highlight>
                    <a:srgbClr val="ECFDF5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nav2 button</a:t>
              </a:r>
              <a:r>
                <a:rPr lang="ko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ko" sz="1200">
                  <a:solidFill>
                    <a:srgbClr val="334155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qprocessor : </a:t>
              </a:r>
              <a:r>
                <a:rPr b="1" lang="ko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local node</a:t>
              </a:r>
              <a:r>
                <a:rPr lang="ko" sz="1200">
                  <a:solidFill>
                    <a:srgbClr val="334155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 실행</a:t>
              </a:r>
              <a:r>
                <a:rPr lang="ko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ko" sz="1200">
                  <a:solidFill>
                    <a:srgbClr val="1E40AF"/>
                  </a:solidFill>
                  <a:highlight>
                    <a:srgbClr val="EFF6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nav2 활성화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 출력방식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476250" y="1238250"/>
            <a:ext cx="3619500" cy="333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실시간 로그 시스템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ko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각 영역들의 상태 메시지를 GUI의 </a:t>
            </a:r>
            <a:r>
              <a:rPr b="1" lang="ko" sz="12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Log box</a:t>
            </a:r>
            <a:r>
              <a:rPr b="0" lang="ko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에서 실시간으로 통합하여 보여줍니다.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ko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로봇의 실시간 상태 변화와 명령 전달 결과, 백그라운드 프로세스 동작까지 한눈에 파악하고 디버깅할 수 있습니다.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8" name="Google Shape;268;p34"/>
          <p:cNvGrpSpPr/>
          <p:nvPr/>
        </p:nvGrpSpPr>
        <p:grpSpPr>
          <a:xfrm>
            <a:off x="4476750" y="1238250"/>
            <a:ext cx="4191000" cy="714300"/>
            <a:chOff x="4476750" y="1238250"/>
            <a:chExt cx="4191000" cy="714300"/>
          </a:xfrm>
        </p:grpSpPr>
        <p:sp>
          <p:nvSpPr>
            <p:cNvPr id="269" name="Google Shape;269;p34"/>
            <p:cNvSpPr/>
            <p:nvPr/>
          </p:nvSpPr>
          <p:spPr>
            <a:xfrm>
              <a:off x="4476750" y="1238250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4476750" y="1238250"/>
              <a:ext cx="57300" cy="714300"/>
            </a:xfrm>
            <a:prstGeom prst="roundRect">
              <a:avLst>
                <a:gd fmla="val 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4"/>
            <p:cNvSpPr txBox="1"/>
            <p:nvPr/>
          </p:nvSpPr>
          <p:spPr>
            <a:xfrm>
              <a:off x="4667250" y="1238250"/>
              <a:ext cx="3810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01. 로봇 상태 변화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로봇 하드웨어 및 시스템의 상태 전환을 실시간 감지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2" name="Google Shape;272;p34"/>
          <p:cNvGrpSpPr/>
          <p:nvPr/>
        </p:nvGrpSpPr>
        <p:grpSpPr>
          <a:xfrm>
            <a:off x="4476750" y="2047875"/>
            <a:ext cx="4191000" cy="714300"/>
            <a:chOff x="4476750" y="2047875"/>
            <a:chExt cx="4191000" cy="714300"/>
          </a:xfrm>
        </p:grpSpPr>
        <p:sp>
          <p:nvSpPr>
            <p:cNvPr id="273" name="Google Shape;273;p34"/>
            <p:cNvSpPr/>
            <p:nvPr/>
          </p:nvSpPr>
          <p:spPr>
            <a:xfrm>
              <a:off x="4476750" y="204787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4476750" y="2047875"/>
              <a:ext cx="57300" cy="714300"/>
            </a:xfrm>
            <a:prstGeom prst="roundRect">
              <a:avLst>
                <a:gd fmla="val 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4"/>
            <p:cNvSpPr txBox="1"/>
            <p:nvPr/>
          </p:nvSpPr>
          <p:spPr>
            <a:xfrm>
              <a:off x="4667250" y="2047875"/>
              <a:ext cx="3810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02. 명령 전달 결과</a:t>
              </a:r>
              <a:endParaRPr b="1" sz="110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송신된 제어 명령의 성공 여부 및 피드백 메시지 표시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34"/>
          <p:cNvGrpSpPr/>
          <p:nvPr/>
        </p:nvGrpSpPr>
        <p:grpSpPr>
          <a:xfrm>
            <a:off x="4476750" y="2857500"/>
            <a:ext cx="4191000" cy="714300"/>
            <a:chOff x="4476750" y="2857500"/>
            <a:chExt cx="4191000" cy="714300"/>
          </a:xfrm>
        </p:grpSpPr>
        <p:sp>
          <p:nvSpPr>
            <p:cNvPr id="277" name="Google Shape;277;p34"/>
            <p:cNvSpPr/>
            <p:nvPr/>
          </p:nvSpPr>
          <p:spPr>
            <a:xfrm>
              <a:off x="4476750" y="2857500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4476750" y="2857500"/>
              <a:ext cx="57300" cy="714300"/>
            </a:xfrm>
            <a:prstGeom prst="roundRect">
              <a:avLst>
                <a:gd fmla="val 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4"/>
            <p:cNvSpPr txBox="1"/>
            <p:nvPr/>
          </p:nvSpPr>
          <p:spPr>
            <a:xfrm>
              <a:off x="4667250" y="2857500"/>
              <a:ext cx="3810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03. 프로세스 실행 상태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내부 프로세스 및 백그라운드 서비스 동작 유무 모니터링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0" name="Google Shape;280;p34"/>
          <p:cNvGrpSpPr/>
          <p:nvPr/>
        </p:nvGrpSpPr>
        <p:grpSpPr>
          <a:xfrm>
            <a:off x="4476750" y="3667125"/>
            <a:ext cx="4191000" cy="714300"/>
            <a:chOff x="4476750" y="3667125"/>
            <a:chExt cx="4191000" cy="714300"/>
          </a:xfrm>
        </p:grpSpPr>
        <p:sp>
          <p:nvSpPr>
            <p:cNvPr id="281" name="Google Shape;281;p34"/>
            <p:cNvSpPr/>
            <p:nvPr/>
          </p:nvSpPr>
          <p:spPr>
            <a:xfrm>
              <a:off x="4476750" y="366712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4476750" y="3667125"/>
              <a:ext cx="57300" cy="714300"/>
            </a:xfrm>
            <a:prstGeom prst="roundRect">
              <a:avLst>
                <a:gd fmla="val 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 txBox="1"/>
            <p:nvPr/>
          </p:nvSpPr>
          <p:spPr>
            <a:xfrm>
              <a:off x="4667250" y="3667125"/>
              <a:ext cx="3810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04. Waypoint 관련 동작</a:t>
              </a:r>
              <a:endParaRPr b="1" sz="1100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목표 지점 이동 시 발생하는 세부 동작 정보 실시간 출력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5"/>
          <p:cNvGrpSpPr/>
          <p:nvPr/>
        </p:nvGrpSpPr>
        <p:grpSpPr>
          <a:xfrm>
            <a:off x="476250" y="428625"/>
            <a:ext cx="8191500" cy="571500"/>
            <a:chOff x="476250" y="428625"/>
            <a:chExt cx="8191500" cy="571500"/>
          </a:xfrm>
        </p:grpSpPr>
        <p:sp>
          <p:nvSpPr>
            <p:cNvPr id="289" name="Google Shape;289;p35"/>
            <p:cNvSpPr/>
            <p:nvPr/>
          </p:nvSpPr>
          <p:spPr>
            <a:xfrm>
              <a:off x="476250" y="428625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5"/>
            <p:cNvSpPr txBox="1"/>
            <p:nvPr/>
          </p:nvSpPr>
          <p:spPr>
            <a:xfrm>
              <a:off x="476250" y="428625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자유기능 : 날씨요정</a:t>
              </a:r>
              <a:endParaRPr b="1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1" name="Google Shape;291;p35"/>
          <p:cNvGrpSpPr/>
          <p:nvPr/>
        </p:nvGrpSpPr>
        <p:grpSpPr>
          <a:xfrm>
            <a:off x="476250" y="1238250"/>
            <a:ext cx="3619500" cy="1143000"/>
            <a:chOff x="476250" y="1238250"/>
            <a:chExt cx="3619500" cy="1143000"/>
          </a:xfrm>
        </p:grpSpPr>
        <p:sp>
          <p:nvSpPr>
            <p:cNvPr id="292" name="Google Shape;292;p35"/>
            <p:cNvSpPr/>
            <p:nvPr/>
          </p:nvSpPr>
          <p:spPr>
            <a:xfrm>
              <a:off x="476250" y="1238250"/>
              <a:ext cx="3619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5"/>
            <p:cNvSpPr txBox="1"/>
            <p:nvPr/>
          </p:nvSpPr>
          <p:spPr>
            <a:xfrm>
              <a:off x="476250" y="1238250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날씨 정보 음성 안내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ko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현재 위치 기반 날씨 정보를 조회하고 그 결과를 로봇의 음성 출력으로 전달하는 동작을 수행합니다.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4" name="Google Shape;294;p35"/>
          <p:cNvGrpSpPr/>
          <p:nvPr/>
        </p:nvGrpSpPr>
        <p:grpSpPr>
          <a:xfrm>
            <a:off x="4476750" y="1238250"/>
            <a:ext cx="4191000" cy="952500"/>
            <a:chOff x="4476750" y="1238250"/>
            <a:chExt cx="4191000" cy="952500"/>
          </a:xfrm>
        </p:grpSpPr>
        <p:sp>
          <p:nvSpPr>
            <p:cNvPr id="295" name="Google Shape;295;p35"/>
            <p:cNvSpPr/>
            <p:nvPr/>
          </p:nvSpPr>
          <p:spPr>
            <a:xfrm>
              <a:off x="4476750" y="1238250"/>
              <a:ext cx="4191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4476750" y="1238250"/>
              <a:ext cx="57300" cy="9525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 txBox="1"/>
            <p:nvPr/>
          </p:nvSpPr>
          <p:spPr>
            <a:xfrm>
              <a:off x="4714875" y="1238250"/>
              <a:ext cx="3762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01. 날씨 정보 조회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외부 날씨 API를 호출하여 현재 지역의 날씨 정보를 실시간으로 가져옵니다.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8" name="Google Shape;298;p35"/>
          <p:cNvGrpSpPr/>
          <p:nvPr/>
        </p:nvGrpSpPr>
        <p:grpSpPr>
          <a:xfrm>
            <a:off x="4476750" y="2333625"/>
            <a:ext cx="4191000" cy="952500"/>
            <a:chOff x="4476750" y="2333625"/>
            <a:chExt cx="4191000" cy="952500"/>
          </a:xfrm>
        </p:grpSpPr>
        <p:sp>
          <p:nvSpPr>
            <p:cNvPr id="299" name="Google Shape;299;p35"/>
            <p:cNvSpPr/>
            <p:nvPr/>
          </p:nvSpPr>
          <p:spPr>
            <a:xfrm>
              <a:off x="4476750" y="2333625"/>
              <a:ext cx="4191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4476750" y="2333625"/>
              <a:ext cx="57300" cy="9525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5"/>
            <p:cNvSpPr txBox="1"/>
            <p:nvPr/>
          </p:nvSpPr>
          <p:spPr>
            <a:xfrm>
              <a:off x="4714875" y="2333625"/>
              <a:ext cx="3762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02. 안내 문장 생성</a:t>
              </a:r>
              <a:endParaRPr b="1" sz="110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조회 결과를 가공하여 사용자에게 친근하게 전달할 최적의 문장으로 구성합니다.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2" name="Google Shape;302;p35"/>
          <p:cNvGrpSpPr/>
          <p:nvPr/>
        </p:nvGrpSpPr>
        <p:grpSpPr>
          <a:xfrm>
            <a:off x="4476750" y="3429000"/>
            <a:ext cx="4191000" cy="952500"/>
            <a:chOff x="4476750" y="3429000"/>
            <a:chExt cx="4191000" cy="952500"/>
          </a:xfrm>
        </p:grpSpPr>
        <p:sp>
          <p:nvSpPr>
            <p:cNvPr id="303" name="Google Shape;303;p35"/>
            <p:cNvSpPr/>
            <p:nvPr/>
          </p:nvSpPr>
          <p:spPr>
            <a:xfrm>
              <a:off x="4476750" y="3429000"/>
              <a:ext cx="41910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4476750" y="3429000"/>
              <a:ext cx="57300" cy="9525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5"/>
            <p:cNvSpPr txBox="1"/>
            <p:nvPr/>
          </p:nvSpPr>
          <p:spPr>
            <a:xfrm>
              <a:off x="4714875" y="3429000"/>
              <a:ext cx="3762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03. TTS 음성 출력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ko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생성 문장을 TTS 메시지 형식으로 변환 후 로봇 오디오 노드로 전송하여 직접 출력합니다.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35"/>
          <p:cNvGrpSpPr/>
          <p:nvPr/>
        </p:nvGrpSpPr>
        <p:grpSpPr>
          <a:xfrm>
            <a:off x="476250" y="2667000"/>
            <a:ext cx="3619500" cy="1428900"/>
            <a:chOff x="476250" y="2667000"/>
            <a:chExt cx="3619500" cy="1428900"/>
          </a:xfrm>
        </p:grpSpPr>
        <p:sp>
          <p:nvSpPr>
            <p:cNvPr id="307" name="Google Shape;307;p35"/>
            <p:cNvSpPr/>
            <p:nvPr/>
          </p:nvSpPr>
          <p:spPr>
            <a:xfrm>
              <a:off x="476250" y="2667000"/>
              <a:ext cx="3619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8" name="Google Shape;308;p35"/>
            <p:cNvPicPr preferRelativeResize="0"/>
            <p:nvPr/>
          </p:nvPicPr>
          <p:blipFill rotWithShape="1">
            <a:blip r:embed="rId4">
              <a:alphaModFix/>
            </a:blip>
            <a:srcRect b="-60418" l="0" r="0" t="6643"/>
            <a:stretch/>
          </p:blipFill>
          <p:spPr>
            <a:xfrm>
              <a:off x="666750" y="3286125"/>
              <a:ext cx="3238500" cy="4764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309" name="Google Shape;309;p35"/>
            <p:cNvSpPr txBox="1"/>
            <p:nvPr/>
          </p:nvSpPr>
          <p:spPr>
            <a:xfrm>
              <a:off x="666750" y="2809875"/>
              <a:ext cx="323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실행화면</a:t>
            </a:r>
            <a:endParaRPr/>
          </a:p>
        </p:txBody>
      </p:sp>
      <p:pic>
        <p:nvPicPr>
          <p:cNvPr id="315" name="Google Shape;315;p36" title="Ubuntu 22.04 LTS [실행 중] - Oracle VirtualBox 2026-07-09 18-37-3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575" y="1170075"/>
            <a:ext cx="680222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Trouble Issues &amp; Troubleshooting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1" name="Google Shape;321;p37"/>
          <p:cNvGrpSpPr/>
          <p:nvPr/>
        </p:nvGrpSpPr>
        <p:grpSpPr>
          <a:xfrm>
            <a:off x="476250" y="1238250"/>
            <a:ext cx="3905400" cy="3333900"/>
            <a:chOff x="476250" y="1238250"/>
            <a:chExt cx="3905400" cy="3333900"/>
          </a:xfrm>
        </p:grpSpPr>
        <p:sp>
          <p:nvSpPr>
            <p:cNvPr id="322" name="Google Shape;322;p37"/>
            <p:cNvSpPr/>
            <p:nvPr/>
          </p:nvSpPr>
          <p:spPr>
            <a:xfrm>
              <a:off x="476250" y="1238250"/>
              <a:ext cx="39054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476250" y="1238250"/>
              <a:ext cx="76200" cy="3333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7"/>
            <p:cNvSpPr txBox="1"/>
            <p:nvPr/>
          </p:nvSpPr>
          <p:spPr>
            <a:xfrm>
              <a:off x="762000" y="1428750"/>
              <a:ext cx="3333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01. SSH Command Issue</a:t>
              </a:r>
              <a:endParaRPr b="1" sz="11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원격 명령어 실행 오류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Issue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로컬 PC에서 qprocessor를 통해 원격 PC로 ssh 명령을 직접 송신하여 제어할 때, 환경 변수 및 실행 경로 문제로 인해 대상 명령어가 정상적으로 동작하지 않음.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Troubleshooting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원격 PC 내부에 동작할 명령을 포함한 자체 Shell Script를 미리 작성해 두고, 로컬 PC에서는 해당 스크립트를 원격 실행하는 방식으로 우회 해결.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5" name="Google Shape;325;p37"/>
          <p:cNvGrpSpPr/>
          <p:nvPr/>
        </p:nvGrpSpPr>
        <p:grpSpPr>
          <a:xfrm>
            <a:off x="4762500" y="1238250"/>
            <a:ext cx="3905400" cy="3333900"/>
            <a:chOff x="4762500" y="1238250"/>
            <a:chExt cx="3905400" cy="3333900"/>
          </a:xfrm>
        </p:grpSpPr>
        <p:sp>
          <p:nvSpPr>
            <p:cNvPr id="326" name="Google Shape;326;p37"/>
            <p:cNvSpPr/>
            <p:nvPr/>
          </p:nvSpPr>
          <p:spPr>
            <a:xfrm>
              <a:off x="4762500" y="1238250"/>
              <a:ext cx="39054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4762500" y="1238250"/>
              <a:ext cx="76200" cy="33339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7"/>
            <p:cNvSpPr txBox="1"/>
            <p:nvPr/>
          </p:nvSpPr>
          <p:spPr>
            <a:xfrm>
              <a:off x="5048250" y="1428750"/>
              <a:ext cx="3333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02. Multi-Node Communication</a:t>
              </a:r>
              <a:endParaRPr b="1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다중 노드 제어 및 통신 복잡성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Issue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기능별로 세분화된 수많은 단독 노드를 실행할 경우, 노드 전체 프로세스를 일괄 제어하기 어렵고 클래스 간 데이터 전송 및 통신 구조가 불필요하게 복잡해짐.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Troubleshooting</a:t>
              </a:r>
              <a:endParaRPr b="1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각 센서별 토픽 구독, 액션, 정보 방출 기능을 하나의 통합 노드 내부로 병합하고, 클래스 간 데이터 공유 및 흐름 제어는 가볍고 직관적인 pySignal을 적용하여 해결.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